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7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9" r:id="rId6"/>
    <p:sldMasterId id="2147483661" r:id="rId7"/>
    <p:sldMasterId id="2147483663" r:id="rId8"/>
    <p:sldMasterId id="2147483665" r:id="rId9"/>
    <p:sldMasterId id="2147483667" r:id="rId10"/>
    <p:sldMasterId id="2147483669" r:id="rId11"/>
    <p:sldMasterId id="214748367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1AF884-DB47-4C45-B9B4-B7F09272AD4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5829F8E-0EA4-444D-9F14-873B5B20E30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948EC82-213E-4BDC-83D9-1AB9070F0DB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8B3832B-D8E6-41E4-A4CB-C6F62FF8A6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4CFE719-7459-4454-AF73-F080C638288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3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C371A1A2-E37D-41C8-BE85-D0F782198A9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54805C9-981A-4446-ABFF-58757AEFA62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A9BFA10B-99FF-4FEB-8E34-7D020E17FF5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1E06284-DD94-4A76-9DB1-944D6A4F4F5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B6E02C2F-571E-43BB-A06C-B7F1E302B4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DA889092-450F-4DDB-B54A-B697F42866E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4B4D6D9F-1660-470E-BF72-E6B7AC82B80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36256326-9D74-4218-9F62-C00933996F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2E8DCE40-6D7A-43BE-A86A-3605759B633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ru-RU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5" Type="http://schemas.openxmlformats.org/officeDocument/2006/relationships/slideLayout" Target="../slideLayouts/slideLayout7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8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9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10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11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12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3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A5D447-5023-44B5-BE81-7F24BFFA0D9B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B263DA-C706-4159-A0DC-3D70E2DAE173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3880" cy="5811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3E5DB4-5CC3-40F6-974B-19D1ABE2669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dt" idx="10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ftr" idx="11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 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sldNum" idx="12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CB0DE1F-2390-4B1B-8981-73E4288240C5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1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  <p:sldLayoutId id="2147483656" r:id="rId3"/>
    <p:sldLayoutId id="2147483657" r:id="rId4"/>
    <p:sldLayoutId id="2147483658" r:id="rId5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240" cy="2852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2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4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dt" idx="13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 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ftr" idx="14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sldNum" idx="15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04F9586-EDAF-4597-AC96-7EBECA6303A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6172200" y="1825560"/>
            <a:ext cx="518112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9997031-CE00-4C08-8AB6-DF8F15D8BA78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36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839880" y="2505240"/>
            <a:ext cx="515736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2920" cy="82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ru-RU" sz="24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6172200" y="2505240"/>
            <a:ext cx="5182920" cy="3684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dt" idx="19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6" name="PlaceHolder 7"/>
          <p:cNvSpPr>
            <a:spLocks noGrp="1"/>
          </p:cNvSpPr>
          <p:nvPr>
            <p:ph type="ftr" idx="20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47" name="PlaceHolder 8"/>
          <p:cNvSpPr>
            <a:spLocks noGrp="1"/>
          </p:cNvSpPr>
          <p:nvPr>
            <p:ph type="sldNum" idx="21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49A1C6-26D1-40C2-90CB-6DEF510BEC0F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dt" idx="22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ftr" idx="23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sldNum" idx="24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E93933-3522-4E52-9359-EFCA3DA49BD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E7E0DC-C3C3-4283-8387-4FBFEAD70E50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4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</a:t>
            </a: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Четвертый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000" strike="noStrike" u="none">
                <a:solidFill>
                  <a:schemeClr val="dk1"/>
                </a:solidFill>
                <a:uFillTx/>
                <a:latin typeface="Calibri"/>
              </a:rPr>
              <a:t>Пятый уровень</a:t>
            </a:r>
            <a:endParaRPr b="0" lang="ru-RU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E00D49-2A20-4E26-9190-AE3659716C7A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1920" cy="1599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 Light"/>
              </a:rPr>
              <a:t>Образец заголовка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Для правки структуры щёлкните мышью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Второй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Третий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Четвёртый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Пятый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Шестой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trike="noStrike" u="none">
                <a:solidFill>
                  <a:schemeClr val="dk1"/>
                </a:solidFill>
                <a:uFillTx/>
                <a:latin typeface="Calibri"/>
              </a:rPr>
              <a:t>Седьмой уровень структуры</a:t>
            </a:r>
            <a:endParaRPr b="0" lang="ru-RU" sz="32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1920" cy="381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1600" strike="noStrike" u="none">
                <a:solidFill>
                  <a:schemeClr val="dk1"/>
                </a:solidFill>
                <a:uFillTx/>
                <a:latin typeface="Calibri"/>
              </a:rPr>
              <a:t>Образец текста</a:t>
            </a:r>
            <a:endParaRPr b="0" lang="ru-RU" sz="16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&lt;дата/время&gt;</a:t>
            </a:r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ru-RU" sz="1400" strike="noStrike" u="none">
                <a:solidFill>
                  <a:srgbClr val="000000"/>
                </a:solidFill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u-RU" sz="1400" strike="noStrike" u="none">
                <a:solidFill>
                  <a:srgbClr val="000000"/>
                </a:solidFill>
                <a:uFillTx/>
                <a:latin typeface="Times New Roman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48C41CB-CA99-4889-BA60-FBF79B2B3B41}" type="slidenum">
              <a:rPr b="0" lang="ru-RU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&lt;номер&gt;</a:t>
            </a:fld>
            <a:endParaRPr b="0" lang="ru-RU" sz="1200" strike="noStrike" u="none">
              <a:solidFill>
                <a:srgbClr val="000000"/>
              </a:solidFill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hyperlink" Target="https://msk.rt.ru/checkup" TargetMode="External"/><Relationship Id="rId2" Type="http://schemas.openxmlformats.org/officeDocument/2006/relationships/hyperlink" Target="https://msk.rt.ru/checkup" TargetMode="External"/><Relationship Id="rId3" Type="http://schemas.openxmlformats.org/officeDocument/2006/relationships/hyperlink" Target="https://msk.rt.ru/checkup" TargetMode="External"/><Relationship Id="rId4" Type="http://schemas.openxmlformats.org/officeDocument/2006/relationships/hyperlink" Target="https://msk.rt.ru/checkup" TargetMode="External"/><Relationship Id="rId5" Type="http://schemas.openxmlformats.org/officeDocument/2006/relationships/hyperlink" Target="https://msk.rt.ru/checkup" TargetMode="External"/><Relationship Id="rId6" Type="http://schemas.openxmlformats.org/officeDocument/2006/relationships/hyperlink" Target="https://msk.rt.ru/checkup" TargetMode="External"/><Relationship Id="rId7" Type="http://schemas.openxmlformats.org/officeDocument/2006/relationships/hyperlink" Target="https://msk.rt.ru/checkup" TargetMode="External"/><Relationship Id="rId8" Type="http://schemas.openxmlformats.org/officeDocument/2006/relationships/hyperlink" Target="https://msk.rt.ru/checkup" TargetMode="External"/><Relationship Id="rId9" Type="http://schemas.openxmlformats.org/officeDocument/2006/relationships/hyperlink" Target="https://msk.rt.ru/checkup" TargetMode="External"/><Relationship Id="rId10" Type="http://schemas.openxmlformats.org/officeDocument/2006/relationships/hyperlink" Target="https://msk.rt.ru/checkup" TargetMode="External"/><Relationship Id="rId11" Type="http://schemas.openxmlformats.org/officeDocument/2006/relationships/hyperlink" Target="https://msk.rt.ru/checkup" TargetMode="External"/><Relationship Id="rId12" Type="http://schemas.openxmlformats.org/officeDocument/2006/relationships/hyperlink" Target="https://msk.rt.ru/checkup" TargetMode="External"/><Relationship Id="rId13" Type="http://schemas.openxmlformats.org/officeDocument/2006/relationships/hyperlink" Target="https://msk.rt.ru/checkup" TargetMode="External"/><Relationship Id="rId14" Type="http://schemas.openxmlformats.org/officeDocument/2006/relationships/hyperlink" Target="https://msk.rt.ru/checkup" TargetMode="External"/><Relationship Id="rId15" Type="http://schemas.openxmlformats.org/officeDocument/2006/relationships/hyperlink" Target="https://msk.rt.ru/checkup" TargetMode="External"/><Relationship Id="rId16" Type="http://schemas.openxmlformats.org/officeDocument/2006/relationships/hyperlink" Target="https://msk.rt.ru/checkup" TargetMode="External"/><Relationship Id="rId17" Type="http://schemas.openxmlformats.org/officeDocument/2006/relationships/hyperlink" Target="https://msk.rt.ru/checkup" TargetMode="External"/><Relationship Id="rId18" Type="http://schemas.openxmlformats.org/officeDocument/2006/relationships/hyperlink" Target="https://msk.rt.ru/checkup" TargetMode="External"/><Relationship Id="rId19" Type="http://schemas.openxmlformats.org/officeDocument/2006/relationships/hyperlink" Target="https://msk.rt.ru/checkup" TargetMode="External"/><Relationship Id="rId20" Type="http://schemas.openxmlformats.org/officeDocument/2006/relationships/hyperlink" Target="https://msk.rt.ru/checkup" TargetMode="External"/><Relationship Id="rId21" Type="http://schemas.openxmlformats.org/officeDocument/2006/relationships/hyperlink" Target="https://msk.rt.ru/checkup" TargetMode="External"/><Relationship Id="rId22" Type="http://schemas.openxmlformats.org/officeDocument/2006/relationships/hyperlink" Target="https://msk.rt.ru/checkup" TargetMode="External"/><Relationship Id="rId2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Сеть</a:t>
            </a:r>
            <a:r>
              <a:rPr b="0" lang="en-US" sz="6000" strike="noStrike" u="none">
                <a:solidFill>
                  <a:schemeClr val="dk1"/>
                </a:solidFill>
                <a:uFillTx/>
                <a:latin typeface="Calibri Light"/>
              </a:rPr>
              <a:t>. </a:t>
            </a:r>
            <a:r>
              <a:rPr b="0" lang="ru-RU" sz="6000" strike="noStrike" u="none">
                <a:solidFill>
                  <a:schemeClr val="dk1"/>
                </a:solidFill>
                <a:uFillTx/>
                <a:latin typeface="Calibri Light"/>
              </a:rPr>
              <a:t>Интернет</a:t>
            </a:r>
            <a:endParaRPr b="0" lang="ru-RU" sz="6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0" lang="ru-RU" sz="2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Цифровая грамотность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0" y="1298520"/>
            <a:ext cx="12191760" cy="5559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До распространения Интернета во главе угла стояла компьютерная грамотность – понимание того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как решать задачи с помощью компьютера (умение пользоваться компьютером):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пользующиеся мышью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м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огут испытывать проблемы с сенсорным экраном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 наоборот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Люди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привыкшие к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windows,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могут испытывать проблемы при переходе на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unix/linux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Цифровая грамотность – умение оптимально использовать всемирную паутину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искать достоверную информацию в сети и ответственно ее использовать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-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(умение искать данные и ориентироваться в них)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использование (доступной информации много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 не все данные важны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точны или актуальны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Способность анализировать информацию (отделить факты от домыслов) – крайне важный компьютерный навык)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 распространение Вами данных (выражение своих мыслей по некоторой теме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вопросу и публикация их в соцсетях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718560" y="4176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Интернет не равно Всемирная паутина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73" name="Объект 4" descr=""/>
          <p:cNvPicPr/>
          <p:nvPr/>
        </p:nvPicPr>
        <p:blipFill>
          <a:blip r:embed="rId1"/>
          <a:stretch/>
        </p:blipFill>
        <p:spPr>
          <a:xfrm>
            <a:off x="2156400" y="1827000"/>
            <a:ext cx="4350960" cy="435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" name="TextBox 5"/>
          <p:cNvSpPr/>
          <p:nvPr/>
        </p:nvSpPr>
        <p:spPr>
          <a:xfrm>
            <a:off x="61560" y="1960200"/>
            <a:ext cx="197568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Обычный (поверхностный) 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5" name="TextBox 8"/>
          <p:cNvSpPr/>
          <p:nvPr/>
        </p:nvSpPr>
        <p:spPr>
          <a:xfrm>
            <a:off x="61560" y="4084200"/>
            <a:ext cx="20541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Глубокий интернет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61560" y="5350320"/>
            <a:ext cx="1313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Даркнет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TextBox 19"/>
          <p:cNvSpPr/>
          <p:nvPr/>
        </p:nvSpPr>
        <p:spPr>
          <a:xfrm>
            <a:off x="6507720" y="5160600"/>
            <a:ext cx="5503680" cy="146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Наиболее закрытая часть глобальной сети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построенная поверх обычного Интернет в целях анонимности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Для доступа нужны специальные браузеры-программы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(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TOR -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сокращенно от англ. 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The Onion Router, Freenet, I2P </a:t>
            </a:r>
            <a:r>
              <a:rPr b="0" lang="ru-RU" sz="1800" strike="noStrike" u="none">
                <a:solidFill>
                  <a:srgbClr val="17181f"/>
                </a:solidFill>
                <a:uFillTx/>
                <a:latin typeface="Inter var"/>
              </a:rPr>
              <a:t> и пр</a:t>
            </a:r>
            <a:r>
              <a:rPr b="0" lang="en-US" sz="1800" strike="noStrike" u="none">
                <a:solidFill>
                  <a:srgbClr val="17181f"/>
                </a:solidFill>
                <a:uFillTx/>
                <a:latin typeface="Inter var"/>
              </a:rPr>
              <a:t>.</a:t>
            </a:r>
            <a:r>
              <a:rPr b="0" lang="en" sz="1800" strike="noStrike" u="none">
                <a:solidFill>
                  <a:srgbClr val="17181f"/>
                </a:solidFill>
                <a:uFillTx/>
                <a:latin typeface="Inter var"/>
              </a:rPr>
              <a:t>)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.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Box 20"/>
          <p:cNvSpPr/>
          <p:nvPr/>
        </p:nvSpPr>
        <p:spPr>
          <a:xfrm>
            <a:off x="6626520" y="987840"/>
            <a:ext cx="5565240" cy="42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Открытая мировая коммуникационная инфраструктура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остоящая из взаимосвязанных компьютерных сетей и обеспечивающая доступ к удаленной информации и обмен информацией между компьютерами (проводная и беспроводная):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оптоволокно (земляные или подводные работы)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радиоволны (сотовая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/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мобильная связь (формат 3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G,4G,5G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),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 wi-fi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п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ередаваемый по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оздуху с помощью спутника (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SpaceX,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МТС к 2030 году планирует прямое соединение спутника и смартфона)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но надо платить за связь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- T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aara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от 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Google: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если прокладка оптоволокна нерентабельна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а за спутниковую связь не платят клиенты</a:t>
            </a: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1800" strike="noStrike" u="none">
                <a:solidFill>
                  <a:schemeClr val="dk1"/>
                </a:solidFill>
                <a:uFillTx/>
                <a:latin typeface="Calibri"/>
              </a:rPr>
              <a:t>то лазерные лучи (в Дронах для получения канала)</a:t>
            </a:r>
            <a:endParaRPr b="0" lang="ru-RU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Пропускная способность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243720" y="1281240"/>
            <a:ext cx="10515240" cy="539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925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Важно не путать пропускную способность со скоростью интернета: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Пропускная способность — это теоретический максимум, заложенный в технологии (максимальный объём данных, который может быть передан по каналу связи за единицу времени)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Скорость интернета — реальная передача данных, которую вы получаете в конкретный момент</a:t>
            </a:r>
            <a:r>
              <a:rPr b="0" lang="en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Она всегда ниже пропускной способности из-за помех, расстояния, загруженности сети и других факторов.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Чем меньше пропускная способность,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тем медленнее сеть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Оцените скорость Интернета на своем ПК - </a:t>
            </a:r>
            <a:r>
              <a:rPr b="0" lang="en" sz="2800" strike="noStrike" u="none">
                <a:solidFill>
                  <a:srgbClr val="0563c1"/>
                </a:solidFill>
                <a:uFillTx/>
                <a:latin typeface="Arial"/>
                <a:hlinkClick r:id="rId1"/>
              </a:rPr>
              <a:t>https://msk.rt.ru › checkup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2"/>
              </a:rPr>
              <a:t> (сфотографируй значение скорости)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3"/>
              </a:rPr>
              <a:t>(Спроси у Квена: файл размером 1 Гб </a:t>
            </a:r>
            <a:r>
              <a:rPr b="0" lang="ru-RU" sz="2800" strike="noStrike" u="sng">
                <a:solidFill>
                  <a:srgbClr val="0563c1"/>
                </a:solidFill>
                <a:uFillTx/>
                <a:latin typeface="Arial"/>
                <a:hlinkClick r:id="rId4"/>
              </a:rPr>
              <a:t>будет скачиваться за какое время на скорости &lt;введи свое значение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sng">
                <a:solidFill>
                  <a:srgbClr val="0563c1"/>
                </a:solidFill>
                <a:uFillTx/>
                <a:latin typeface="Arial"/>
                <a:ea typeface="Tahoma"/>
                <a:hlinkClick r:id="rId5"/>
              </a:rPr>
              <a:t>будет скачиваться за какое время на скорости &lt;введи свое значение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ea typeface="Tahoma"/>
                <a:hlinkClick r:id="rId6"/>
              </a:rPr>
              <a:t>)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ea typeface="Tahoma"/>
                <a:hlinkClick r:id="rId7"/>
              </a:rPr>
              <a:t>(У смартфона нет провода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ea typeface="Tahoma"/>
                <a:hlinkClick r:id="rId8"/>
              </a:rPr>
              <a:t>,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ea typeface="Tahoma"/>
                <a:hlinkClick r:id="rId9"/>
              </a:rPr>
              <a:t>как в классе</a:t>
            </a:r>
            <a:r>
              <a:rPr b="0" lang="ru-RU" sz="2800" strike="noStrike" u="sng">
                <a:solidFill>
                  <a:srgbClr val="0563c1"/>
                </a:solidFill>
                <a:uFillTx/>
                <a:latin typeface="Arial"/>
                <a:hlinkClick r:id="rId10"/>
              </a:rPr>
              <a:t>будет скачиваться за какое время на скорости &lt;введи свое значение</a:t>
            </a:r>
            <a:r>
              <a:rPr b="0" lang="en-US" sz="2800" strike="noStrike" u="sng">
                <a:solidFill>
                  <a:srgbClr val="0563c1"/>
                </a:solidFill>
                <a:uFillTx/>
                <a:latin typeface="Arial"/>
                <a:hlinkClick r:id="rId11"/>
              </a:rPr>
              <a:t>&gt;?</a:t>
            </a:r>
            <a:r>
              <a:rPr b="0" lang="en-US" sz="2800" strike="noStrike" u="sng">
                <a:solidFill>
                  <a:srgbClr val="0563c1"/>
                </a:solidFill>
                <a:uFillTx/>
                <a:latin typeface="Arial"/>
                <a:hlinkClick r:id="rId12"/>
              </a:rPr>
              <a:t>&gt;?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3"/>
              </a:rPr>
              <a:t>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4"/>
              </a:rPr>
              <a:t>у компьютеров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5"/>
              </a:rPr>
              <a:t>.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6"/>
              </a:rPr>
              <a:t> Спроси у квена про пропускную способность мобильной связи формата 3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7"/>
              </a:rPr>
              <a:t>G,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18"/>
              </a:rPr>
              <a:t> 4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19"/>
              </a:rPr>
              <a:t>G,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20"/>
              </a:rPr>
              <a:t> 5</a:t>
            </a:r>
            <a:r>
              <a:rPr b="0" lang="en-US" sz="2800" strike="noStrike" u="none">
                <a:solidFill>
                  <a:srgbClr val="0563c1"/>
                </a:solidFill>
                <a:uFillTx/>
                <a:latin typeface="Arial"/>
                <a:hlinkClick r:id="rId21"/>
              </a:rPr>
              <a:t>G. </a:t>
            </a:r>
            <a:r>
              <a:rPr b="0" lang="ru-RU" sz="2800" strike="noStrike" u="none">
                <a:solidFill>
                  <a:srgbClr val="0563c1"/>
                </a:solidFill>
                <a:uFillTx/>
                <a:latin typeface="Arial"/>
                <a:hlinkClick r:id="rId22"/>
              </a:rPr>
              <a:t>Сфоткай скорости разных форматов)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Облако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66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Стив Джобс (1955-2011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с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Apple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)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Мне не нужен жесткий диск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если быстрее подключиться к серверу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Давайте сравним скорости записи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- Как узнать реальную скорость чтения/записи диска? Выполни инструкцию квена и сфотографируй значение величины скорости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Можем ли мы согласиться с утверждением Джобса?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Стриминг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Рид Хастингс (род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1960,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соучредитель компании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Netflix):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“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следующие 10 лет прирост [клиентов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]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идти за счет стриминга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”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История стриминга началась в 1910 году: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Джордж Оуэн Сквайр в 1910 г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Изобрел способ передавать музыку по проводам (потом продавал музыку для лифтов за месячную плату)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Стриминг позволяет смотреть передачи в прямом эфире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Недостатки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быстрый и стабильный интернет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может стоить дорого из-за потребления сетевого трафика (это не пропускная способность! Спроси у квена про сетевой трафик – что это?)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0" y="1444680"/>
            <a:ext cx="12191760" cy="5412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lnSpcReduction="9999"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Узел сети – это любое устройство,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посылающее или принимающее данные через сеть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Компьютер (узел сети) в одной части планеты Земля НЕЛЬЗЯ напрямую подключить к компьютеру (узлу сети) в другой части планеты Земля: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сигнал идет от узла к узлу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пока не достигнет цели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передающем узле данные ОБЯЗАТЕЛЬНО разбиваются на пакеты в связи с требованиями канала связи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БЫСТРО передать данные и потом БЫСТРО проверить на ошибки (для медных проводов – до 1500 байт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оптоволокно – до 9000 байт)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Поиск наиболее быстрого и надежного пути между двумя устройствами (узлами сети) называют маршрутизацией: стараются,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чтобы ВСЕ пакеты одного соединения двигались по одному маршруту (иначе,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например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будет неправильный порядок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 п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акетов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что вызовет повторные передачи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 значит более низкую скорость)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Маршрутизация в смартфон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карта сама может ли передавать и принимать данные по сети? Если нет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,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то что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sim-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карте нужно для работы в интернет?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(ответ сфотографировать)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Как узнать адрес Вашего узла в сети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 fontScale="85000" lnSpcReduction="19999"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Спросить у квена – как узнать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-адрес моего смартфона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Интернет ?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В поликлинике –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ip-а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дреса узлам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сети выдает администратор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(адрес принтера и др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.)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к квена как узнать свой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ip-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адрес на машине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В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ыполни инструкции и сфоткай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pic>
        <p:nvPicPr>
          <p:cNvPr id="91" name="Рисунок 3" descr=""/>
          <p:cNvPicPr/>
          <p:nvPr/>
        </p:nvPicPr>
        <p:blipFill>
          <a:blip r:embed="rId1"/>
          <a:stretch/>
        </p:blipFill>
        <p:spPr>
          <a:xfrm>
            <a:off x="6198840" y="1687680"/>
            <a:ext cx="5992920" cy="5032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ru-RU" sz="4400" strike="noStrike" u="none">
                <a:solidFill>
                  <a:schemeClr val="dk1"/>
                </a:solidFill>
                <a:uFillTx/>
                <a:latin typeface="Calibri Light"/>
              </a:rPr>
              <a:t>Пошли сообщение по сети соседу</a:t>
            </a:r>
            <a:endParaRPr b="0" lang="ru-RU" sz="44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Разбиваемся на группы по две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: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1-2, 3-4, 5-6, …, 21-22, 23-24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-25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Спроси у квена как послать сообщение по сети на соседнюю машину с астра линукс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. 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соседу сообщение Привет с машины 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&lt;</a:t>
            </a: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Номер машины</a:t>
            </a:r>
            <a:r>
              <a:rPr b="0" lang="en-US" sz="2800" strike="noStrike" u="none">
                <a:solidFill>
                  <a:schemeClr val="dk1"/>
                </a:solidFill>
                <a:uFillTx/>
                <a:latin typeface="Calibri"/>
              </a:rPr>
              <a:t>&gt;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сообщение сам себе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2800" strike="noStrike" u="none">
                <a:solidFill>
                  <a:schemeClr val="dk1"/>
                </a:solidFill>
                <a:uFillTx/>
                <a:latin typeface="Calibri"/>
              </a:rPr>
              <a:t>Отправь широковещательное сообщение по сети класса</a:t>
            </a:r>
            <a:endParaRPr b="0" lang="ru-RU" sz="2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10530</TotalTime>
  <Application>LibreOffice/24.8.4.2$Linux_X86_64 LibreOffice_project/480$Build-2</Application>
  <AppVersion>15.0000</AppVersion>
  <Words>902</Words>
  <Paragraphs>70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2025-10-26T17:58:23Z</dcterms:created>
  <dc:creator>Елена Демидова</dc:creator>
  <dc:description/>
  <dc:language>ru-RU</dc:language>
  <cp:lastModifiedBy/>
  <dcterms:modified xsi:type="dcterms:W3CDTF">2025-11-10T14:18:16Z</dcterms:modified>
  <cp:revision>62</cp:revision>
  <dc:subject/>
  <dc:title>Сеть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Широкоэкранный</vt:lpwstr>
  </property>
  <property fmtid="{D5CDD505-2E9C-101B-9397-08002B2CF9AE}" pid="3" name="Slides">
    <vt:i4>10</vt:i4>
  </property>
</Properties>
</file>